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70" r:id="rId5"/>
    <p:sldId id="263" r:id="rId6"/>
    <p:sldId id="271" r:id="rId7"/>
    <p:sldId id="264" r:id="rId8"/>
    <p:sldId id="265" r:id="rId9"/>
    <p:sldId id="259" r:id="rId10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  <p15:guide id="3" orient="horz" pos="98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4E79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22" autoAdjust="0"/>
    <p:restoredTop sz="83176" autoAdjust="0"/>
  </p:normalViewPr>
  <p:slideViewPr>
    <p:cSldViewPr snapToGrid="0" showGuides="1">
      <p:cViewPr varScale="1">
        <p:scale>
          <a:sx n="95" d="100"/>
          <a:sy n="95" d="100"/>
        </p:scale>
        <p:origin x="2172" y="72"/>
      </p:cViewPr>
      <p:guideLst>
        <p:guide orient="horz" pos="2160"/>
        <p:guide pos="3120"/>
        <p:guide orient="horz" pos="98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6" d="100"/>
          <a:sy n="86" d="100"/>
        </p:scale>
        <p:origin x="378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4213BF-6043-403D-8D70-E08651CC45DB}" type="datetimeFigureOut">
              <a:rPr lang="ko-KR" altLang="en-US" smtClean="0"/>
              <a:t>2024-01-25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B251F0-BAD2-42D1-8D46-86F6308CF2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2410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251F0-BAD2-42D1-8D46-86F6308CF2B8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94851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182" y="1088501"/>
            <a:ext cx="9285817" cy="943502"/>
          </a:xfrm>
        </p:spPr>
        <p:txBody>
          <a:bodyPr anchor="t">
            <a:normAutofit/>
          </a:bodyPr>
          <a:lstStyle>
            <a:lvl1pPr algn="l">
              <a:defRPr sz="4000" b="1" spc="-250" baseline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11" name="직사각형 10"/>
          <p:cNvSpPr/>
          <p:nvPr userDrawn="1"/>
        </p:nvSpPr>
        <p:spPr>
          <a:xfrm>
            <a:off x="0" y="2798765"/>
            <a:ext cx="9906000" cy="40592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4" name="표 13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95524182"/>
              </p:ext>
            </p:extLst>
          </p:nvPr>
        </p:nvGraphicFramePr>
        <p:xfrm>
          <a:off x="311516" y="4692136"/>
          <a:ext cx="1051614" cy="9911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614">
                  <a:extLst>
                    <a:ext uri="{9D8B030D-6E8A-4147-A177-3AD203B41FA5}">
                      <a16:colId xmlns:a16="http://schemas.microsoft.com/office/drawing/2014/main" val="1731061380"/>
                    </a:ext>
                  </a:extLst>
                </a:gridCol>
              </a:tblGrid>
              <a:tr h="211132">
                <a:tc>
                  <a:txBody>
                    <a:bodyPr/>
                    <a:lstStyle/>
                    <a:p>
                      <a:pPr marL="0" indent="0" algn="dist" defTabSz="914400" rtl="0" eaLnBrk="1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pitchFamily="34" charset="0"/>
                        <a:buNone/>
                      </a:pPr>
                      <a:r>
                        <a:rPr lang="ko-KR" altLang="en-US" sz="1200" b="1" kern="1200" spc="-50" dirty="0">
                          <a:ln w="3175">
                            <a:solidFill>
                              <a:schemeClr val="bg1">
                                <a:lumMod val="75000"/>
                                <a:alpha val="2000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평가일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485795"/>
                  </a:ext>
                </a:extLst>
              </a:tr>
              <a:tr h="211132">
                <a:tc>
                  <a:txBody>
                    <a:bodyPr/>
                    <a:lstStyle/>
                    <a:p>
                      <a:pPr marL="0" indent="0" algn="dist" defTabSz="914400" rtl="0" eaLnBrk="1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pitchFamily="34" charset="0"/>
                        <a:buNone/>
                      </a:pPr>
                      <a:r>
                        <a:rPr lang="ko-KR" altLang="en-US" sz="1200" b="1" kern="1200" spc="-50" dirty="0" err="1">
                          <a:ln w="3175">
                            <a:solidFill>
                              <a:schemeClr val="bg1">
                                <a:lumMod val="75000"/>
                                <a:alpha val="2000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훈련교사</a:t>
                      </a:r>
                      <a:endParaRPr lang="ko-KR" altLang="en-US" sz="1200" b="1" kern="1200" spc="-50" dirty="0">
                        <a:ln w="3175">
                          <a:solidFill>
                            <a:schemeClr val="bg1">
                              <a:lumMod val="75000"/>
                              <a:alpha val="2000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1737949"/>
                  </a:ext>
                </a:extLst>
              </a:tr>
              <a:tr h="211132">
                <a:tc>
                  <a:txBody>
                    <a:bodyPr/>
                    <a:lstStyle/>
                    <a:p>
                      <a:pPr marL="0" indent="0" algn="dist" defTabSz="914400" rtl="0" eaLnBrk="1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pitchFamily="34" charset="0"/>
                        <a:buNone/>
                      </a:pPr>
                      <a:r>
                        <a:rPr lang="ko-KR" altLang="en-US" sz="1200" b="1" kern="1200" spc="-50" dirty="0" err="1">
                          <a:ln w="3175">
                            <a:solidFill>
                              <a:schemeClr val="bg1">
                                <a:lumMod val="75000"/>
                                <a:alpha val="2000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훈련생명</a:t>
                      </a:r>
                      <a:endParaRPr lang="ko-KR" altLang="en-US" sz="1200" b="1" kern="1200" spc="-50" dirty="0">
                        <a:ln w="3175">
                          <a:solidFill>
                            <a:schemeClr val="bg1">
                              <a:lumMod val="75000"/>
                              <a:alpha val="2000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47817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35573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pos="240" userDrawn="1">
          <p15:clr>
            <a:srgbClr val="FBAE40"/>
          </p15:clr>
        </p15:guide>
        <p15:guide id="4" orient="horz" pos="278" userDrawn="1">
          <p15:clr>
            <a:srgbClr val="FBAE40"/>
          </p15:clr>
        </p15:guide>
        <p15:guide id="5" pos="600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 L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6654800" y="1"/>
            <a:ext cx="32512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9" y="365127"/>
            <a:ext cx="4271962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3878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945" y="168804"/>
            <a:ext cx="9247055" cy="593193"/>
          </a:xfrm>
        </p:spPr>
        <p:txBody>
          <a:bodyPr anchor="ctr">
            <a:normAutofit/>
          </a:bodyPr>
          <a:lstStyle>
            <a:lvl1pPr>
              <a:defRPr sz="1800"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36F61-85A5-423E-AA20-902C4E984E9A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382591" y="691008"/>
            <a:ext cx="9142409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 userDrawn="1"/>
        </p:nvCxnSpPr>
        <p:spPr>
          <a:xfrm>
            <a:off x="382591" y="6214696"/>
            <a:ext cx="9142409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7872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감사합니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9464" y="2506132"/>
            <a:ext cx="9144000" cy="1168400"/>
          </a:xfrm>
        </p:spPr>
        <p:txBody>
          <a:bodyPr vert="horz">
            <a:normAutofit/>
          </a:bodyPr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341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6168" y="161925"/>
            <a:ext cx="9258832" cy="617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1038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46506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136F61-85A5-423E-AA20-902C4E984E9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0151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71" r:id="rId4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  <p15:guide id="3" pos="6000" userDrawn="1">
          <p15:clr>
            <a:srgbClr val="F26B43"/>
          </p15:clr>
        </p15:guide>
        <p15:guide id="4" pos="2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39182" y="1672701"/>
            <a:ext cx="9285817" cy="943502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프로그래밍 언어 응용</a:t>
            </a:r>
            <a:br>
              <a:rPr lang="en-US" altLang="ko-KR" dirty="0"/>
            </a:br>
            <a:r>
              <a:rPr lang="en-US" altLang="ko-KR" sz="2700" b="0" dirty="0"/>
              <a:t>- </a:t>
            </a:r>
            <a:r>
              <a:rPr lang="ko-KR" altLang="en-US" sz="2700" b="0" dirty="0"/>
              <a:t>능력단위명 </a:t>
            </a:r>
            <a:r>
              <a:rPr lang="en-US" altLang="ko-KR" sz="2700" b="0" dirty="0"/>
              <a:t>:</a:t>
            </a:r>
            <a:r>
              <a:rPr lang="ko-KR" altLang="en-US" sz="2700" b="0" dirty="0"/>
              <a:t> 프로그래밍 언어 응용</a:t>
            </a:r>
            <a:r>
              <a:rPr lang="en-US" altLang="ko-KR" sz="2700" b="0" dirty="0"/>
              <a:t>(2001020230_19v4)</a:t>
            </a:r>
            <a:endParaRPr lang="ko-KR" altLang="en-US" b="0" dirty="0"/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0103628"/>
              </p:ext>
            </p:extLst>
          </p:nvPr>
        </p:nvGraphicFramePr>
        <p:xfrm>
          <a:off x="1386783" y="4692136"/>
          <a:ext cx="2236950" cy="99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6950">
                  <a:extLst>
                    <a:ext uri="{9D8B030D-6E8A-4147-A177-3AD203B41FA5}">
                      <a16:colId xmlns:a16="http://schemas.microsoft.com/office/drawing/2014/main" val="1731061380"/>
                    </a:ext>
                  </a:extLst>
                </a:gridCol>
              </a:tblGrid>
              <a:tr h="331200"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pitchFamily="34" charset="0"/>
                        <a:buNone/>
                      </a:pPr>
                      <a:r>
                        <a:rPr lang="en-US" altLang="ko-KR" sz="1200" b="1" kern="1200" spc="-50" dirty="0">
                          <a:ln w="3175">
                            <a:solidFill>
                              <a:schemeClr val="bg1">
                                <a:lumMod val="75000"/>
                                <a:alpha val="2000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2024.01.25</a:t>
                      </a:r>
                      <a:endParaRPr lang="ko-KR" altLang="en-US" sz="1200" b="1" kern="1200" spc="-50" dirty="0">
                        <a:ln w="3175">
                          <a:solidFill>
                            <a:schemeClr val="bg1">
                              <a:lumMod val="75000"/>
                              <a:alpha val="2000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485795"/>
                  </a:ext>
                </a:extLst>
              </a:tr>
              <a:tr h="331200"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pitchFamily="34" charset="0"/>
                        <a:buNone/>
                      </a:pPr>
                      <a:r>
                        <a:rPr lang="ko-KR" altLang="en-US" sz="1200" b="1" kern="1200" spc="-50" dirty="0" err="1">
                          <a:ln w="3175">
                            <a:solidFill>
                              <a:schemeClr val="bg1">
                                <a:lumMod val="75000"/>
                                <a:alpha val="2000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전창우</a:t>
                      </a:r>
                      <a:endParaRPr lang="ko-KR" altLang="en-US" sz="1200" b="1" kern="1200" spc="-50" dirty="0">
                        <a:ln w="3175">
                          <a:solidFill>
                            <a:schemeClr val="bg1">
                              <a:lumMod val="75000"/>
                              <a:alpha val="2000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1737949"/>
                  </a:ext>
                </a:extLst>
              </a:tr>
              <a:tr h="331200"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pitchFamily="34" charset="0"/>
                        <a:buNone/>
                      </a:pPr>
                      <a:r>
                        <a:rPr lang="ko-KR" altLang="en-US" sz="1200" b="1" kern="1200" spc="-50" dirty="0" err="1">
                          <a:ln w="3175">
                            <a:solidFill>
                              <a:schemeClr val="bg1">
                                <a:lumMod val="75000"/>
                                <a:alpha val="2000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백소희</a:t>
                      </a:r>
                      <a:endParaRPr lang="ko-KR" altLang="en-US" sz="1200" b="1" kern="1200" spc="-50" dirty="0">
                        <a:ln w="3175">
                          <a:solidFill>
                            <a:schemeClr val="bg1">
                              <a:lumMod val="75000"/>
                              <a:alpha val="2000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4781730"/>
                  </a:ext>
                </a:extLst>
              </a:tr>
            </a:tbl>
          </a:graphicData>
        </a:graphic>
      </p:graphicFrame>
      <p:sp>
        <p:nvSpPr>
          <p:cNvPr id="4" name="제목 1"/>
          <p:cNvSpPr txBox="1">
            <a:spLocks/>
          </p:cNvSpPr>
          <p:nvPr/>
        </p:nvSpPr>
        <p:spPr>
          <a:xfrm>
            <a:off x="239181" y="203200"/>
            <a:ext cx="9285817" cy="4699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000" b="1" kern="1200" spc="-250" baseline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en-US" altLang="ko-KR" sz="1400" spc="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</a:rPr>
              <a:t>[</a:t>
            </a:r>
            <a:r>
              <a:rPr lang="ko-KR" altLang="en-US" sz="1400" spc="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</a:rPr>
              <a:t>디지털디자인</a:t>
            </a:r>
            <a:r>
              <a:rPr lang="en-US" altLang="ko-KR" sz="1400" spc="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</a:rPr>
              <a:t>] </a:t>
            </a:r>
            <a:r>
              <a:rPr lang="en-US" altLang="ko-KR" sz="1400" b="0" spc="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</a:rPr>
              <a:t>UI/UX</a:t>
            </a:r>
            <a:r>
              <a:rPr lang="en-US" altLang="ko-KR" sz="1400" spc="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1400" spc="0" dirty="0" err="1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</a:rPr>
              <a:t>반응형</a:t>
            </a:r>
            <a:r>
              <a:rPr lang="ko-KR" altLang="en-US" sz="1400" spc="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1400" spc="0" dirty="0" err="1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</a:rPr>
              <a:t>웹디자인</a:t>
            </a:r>
            <a:r>
              <a:rPr lang="en-US" altLang="ko-KR" sz="1400" spc="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</a:rPr>
              <a:t>&amp;</a:t>
            </a:r>
            <a:r>
              <a:rPr lang="ko-KR" altLang="en-US" sz="1400" spc="0" dirty="0" err="1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</a:rPr>
              <a:t>웹퍼블리셔</a:t>
            </a:r>
            <a:r>
              <a:rPr lang="en-US" altLang="ko-KR" sz="1400" spc="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400" spc="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</a:rPr>
              <a:t>코딩</a:t>
            </a:r>
            <a:r>
              <a:rPr lang="en-US" altLang="ko-KR" sz="1400" spc="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</a:rPr>
              <a:t>) </a:t>
            </a:r>
            <a:r>
              <a:rPr lang="ko-KR" altLang="en-US" sz="1400" spc="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</a:rPr>
              <a:t>개발자</a:t>
            </a:r>
            <a:r>
              <a:rPr lang="en-US" altLang="ko-KR" sz="1400" spc="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</a:rPr>
              <a:t>2</a:t>
            </a:r>
          </a:p>
          <a:p>
            <a:r>
              <a:rPr lang="en-US" altLang="ko-KR" sz="1400" spc="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</a:rPr>
              <a:t>2023.09.14 ~ 2024.02.28</a:t>
            </a:r>
            <a:endParaRPr lang="ko-KR" altLang="en-US" sz="1400" spc="0" dirty="0">
              <a:solidFill>
                <a:srgbClr val="00206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함초롬돋움" panose="020B0604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78065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1104375" y="710477"/>
            <a:ext cx="4271962" cy="379940"/>
          </a:xfrm>
        </p:spPr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ko-KR" sz="1200" dirty="0">
                <a:ln w="3175">
                  <a:solidFill>
                    <a:prstClr val="white">
                      <a:lumMod val="75000"/>
                      <a:alpha val="2500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elvetica" pitchFamily="34" charset="0"/>
                <a:ea typeface="신세계 민부리 Bold(TTF)" panose="02000600000000020003" pitchFamily="2" charset="-127"/>
                <a:cs typeface="+mn-cs"/>
              </a:rPr>
              <a:t>Contents</a:t>
            </a:r>
            <a:endParaRPr lang="ko-KR" altLang="en-US" sz="1200" dirty="0">
              <a:ln w="3175">
                <a:solidFill>
                  <a:prstClr val="white">
                    <a:lumMod val="75000"/>
                    <a:alpha val="25000"/>
                  </a:prst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Helvetica" pitchFamily="34" charset="0"/>
              <a:ea typeface="신세계 민부리 Bold(TTF)" panose="02000600000000020003" pitchFamily="2" charset="-127"/>
              <a:cs typeface="+mn-cs"/>
            </a:endParaRPr>
          </a:p>
        </p:txBody>
      </p:sp>
      <p:sp>
        <p:nvSpPr>
          <p:cNvPr id="5" name="제목 2"/>
          <p:cNvSpPr txBox="1">
            <a:spLocks/>
          </p:cNvSpPr>
          <p:nvPr/>
        </p:nvSpPr>
        <p:spPr>
          <a:xfrm>
            <a:off x="1861293" y="1345240"/>
            <a:ext cx="5467299" cy="4802283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kumimoji="0" lang="ko-KR" altLang="en-US" sz="3200" b="1" i="0" u="none" strike="noStrike" kern="1200" cap="none" spc="-70" normalizeH="0" baseline="0" dirty="0">
                <a:ln w="3175">
                  <a:solidFill>
                    <a:prstClr val="white">
                      <a:lumMod val="75000"/>
                      <a:alpha val="2000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신세계 반부리 Medium(TTF)" panose="02000600000000020003" pitchFamily="2" charset="-127"/>
                <a:ea typeface="신세계 반부리 Medium(TTF)" panose="02000600000000020003" pitchFamily="2" charset="-127"/>
                <a:cs typeface="+mj-cs"/>
              </a:defRPr>
            </a:lvl1pPr>
          </a:lstStyle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lang="ko-KR" altLang="en-US" sz="2400" spc="0" dirty="0">
                <a:ln w="3175">
                  <a:solidFill>
                    <a:schemeClr val="bg1">
                      <a:lumMod val="75000"/>
                      <a:alpha val="25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주제선정</a:t>
            </a:r>
            <a:endParaRPr lang="en-US" altLang="ko-KR" sz="2400" spc="0" dirty="0">
              <a:ln w="3175">
                <a:solidFill>
                  <a:schemeClr val="bg1">
                    <a:lumMod val="75000"/>
                    <a:alpha val="2500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lang="ko-KR" altLang="en-US" sz="2400" spc="0" dirty="0">
                <a:ln w="3175">
                  <a:solidFill>
                    <a:schemeClr val="bg1">
                      <a:lumMod val="75000"/>
                      <a:alpha val="25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사이트 기획의도</a:t>
            </a:r>
            <a:endParaRPr lang="en-US" altLang="ko-KR" sz="2400" spc="0" dirty="0">
              <a:ln w="3175">
                <a:solidFill>
                  <a:schemeClr val="bg1">
                    <a:lumMod val="75000"/>
                    <a:alpha val="2500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lang="ko-KR" altLang="en-US" sz="2400" spc="0" dirty="0">
                <a:ln w="3175">
                  <a:solidFill>
                    <a:schemeClr val="bg1">
                      <a:lumMod val="75000"/>
                      <a:alpha val="25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타겟</a:t>
            </a:r>
            <a:endParaRPr lang="en-US" altLang="ko-KR" sz="2400" spc="0" dirty="0">
              <a:ln w="3175">
                <a:solidFill>
                  <a:schemeClr val="bg1">
                    <a:lumMod val="75000"/>
                    <a:alpha val="2500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lang="ko-KR" altLang="en-US" sz="2400" spc="0" dirty="0">
                <a:ln w="3175">
                  <a:solidFill>
                    <a:schemeClr val="bg1">
                      <a:lumMod val="75000"/>
                      <a:alpha val="25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정보구조설계</a:t>
            </a:r>
            <a:endParaRPr lang="en-US" altLang="ko-KR" sz="2400" spc="0" dirty="0">
              <a:ln w="3175">
                <a:solidFill>
                  <a:schemeClr val="bg1">
                    <a:lumMod val="75000"/>
                    <a:alpha val="2500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lang="ko-KR" altLang="en-US" sz="2400" spc="0" dirty="0">
                <a:ln w="3175">
                  <a:solidFill>
                    <a:schemeClr val="bg1">
                      <a:lumMod val="75000"/>
                      <a:alpha val="25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와이어프레임</a:t>
            </a:r>
            <a:endParaRPr lang="en-US" altLang="ko-KR" sz="2400" spc="0" dirty="0">
              <a:ln w="3175">
                <a:solidFill>
                  <a:schemeClr val="bg1">
                    <a:lumMod val="75000"/>
                    <a:alpha val="2500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lang="en-US" sz="2400" spc="0" dirty="0">
                <a:ln w="3175">
                  <a:solidFill>
                    <a:schemeClr val="bg1">
                      <a:lumMod val="75000"/>
                      <a:alpha val="25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UI</a:t>
            </a:r>
            <a:r>
              <a:rPr lang="ko-KR" altLang="en-US" sz="2400" spc="0" dirty="0">
                <a:ln w="3175">
                  <a:solidFill>
                    <a:schemeClr val="bg1">
                      <a:lumMod val="75000"/>
                      <a:alpha val="25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디자인</a:t>
            </a:r>
            <a:endParaRPr lang="en-US" altLang="ko-KR" sz="2400" spc="0" dirty="0">
              <a:ln w="3175">
                <a:solidFill>
                  <a:schemeClr val="bg1">
                    <a:lumMod val="75000"/>
                    <a:alpha val="2500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lang="ko-KR" altLang="en-US" sz="2400" spc="0" dirty="0">
                <a:ln w="3175">
                  <a:solidFill>
                    <a:schemeClr val="bg1">
                      <a:lumMod val="75000"/>
                      <a:alpha val="25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구현</a:t>
            </a:r>
            <a:r>
              <a:rPr lang="en-US" altLang="ko-KR" sz="2400" spc="0" dirty="0">
                <a:ln w="3175">
                  <a:solidFill>
                    <a:schemeClr val="bg1">
                      <a:lumMod val="75000"/>
                      <a:alpha val="25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(</a:t>
            </a:r>
            <a:r>
              <a:rPr lang="ko-KR" altLang="en-US" sz="2400" spc="0" dirty="0">
                <a:ln w="3175">
                  <a:solidFill>
                    <a:schemeClr val="bg1">
                      <a:lumMod val="75000"/>
                      <a:alpha val="25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코딩</a:t>
            </a:r>
            <a:r>
              <a:rPr lang="en-US" altLang="ko-KR" sz="2400" spc="0" dirty="0">
                <a:ln w="3175">
                  <a:solidFill>
                    <a:schemeClr val="bg1">
                      <a:lumMod val="75000"/>
                      <a:alpha val="25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)</a:t>
            </a: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lang="ko-KR" altLang="en-US" sz="2400" spc="0" dirty="0">
                <a:ln w="3175">
                  <a:solidFill>
                    <a:schemeClr val="bg1">
                      <a:lumMod val="75000"/>
                      <a:alpha val="25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테스트</a:t>
            </a:r>
            <a:endParaRPr lang="en-US" sz="2400" spc="0" dirty="0">
              <a:ln w="3175">
                <a:solidFill>
                  <a:schemeClr val="bg1">
                    <a:lumMod val="75000"/>
                    <a:alpha val="2500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15" name="그룹 14"/>
          <p:cNvGrpSpPr/>
          <p:nvPr/>
        </p:nvGrpSpPr>
        <p:grpSpPr>
          <a:xfrm>
            <a:off x="1145825" y="1345398"/>
            <a:ext cx="556563" cy="492443"/>
            <a:chOff x="1323625" y="1967791"/>
            <a:chExt cx="556563" cy="492443"/>
          </a:xfrm>
        </p:grpSpPr>
        <p:sp>
          <p:nvSpPr>
            <p:cNvPr id="6" name="직사각형 5"/>
            <p:cNvSpPr/>
            <p:nvPr/>
          </p:nvSpPr>
          <p:spPr>
            <a:xfrm>
              <a:off x="1323625" y="1967791"/>
              <a:ext cx="556563" cy="4924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2600" b="1" dirty="0">
                  <a:ln w="3175">
                    <a:solidFill>
                      <a:prstClr val="white">
                        <a:lumMod val="75000"/>
                        <a:alpha val="25000"/>
                      </a:prstClr>
                    </a:solidFill>
                  </a:ln>
                  <a:solidFill>
                    <a:srgbClr val="45556E"/>
                  </a:solidFill>
                  <a:latin typeface="Century Gothic" panose="020B0502020202020204" pitchFamily="34" charset="0"/>
                  <a:ea typeface="신세계 민부리 Bold(TTF)" panose="02000600000000020003" pitchFamily="2" charset="-127"/>
                  <a:cs typeface="+mj-cs"/>
                </a:rPr>
                <a:t>01</a:t>
              </a:r>
              <a:endParaRPr lang="ko-KR" altLang="en-US" sz="2600" b="1" dirty="0">
                <a:latin typeface="Century Gothic" panose="020B0502020202020204" pitchFamily="34" charset="0"/>
              </a:endParaRPr>
            </a:p>
          </p:txBody>
        </p:sp>
        <p:cxnSp>
          <p:nvCxnSpPr>
            <p:cNvPr id="10" name="직선 연결선 9"/>
            <p:cNvCxnSpPr/>
            <p:nvPr/>
          </p:nvCxnSpPr>
          <p:spPr>
            <a:xfrm>
              <a:off x="1376906" y="2446294"/>
              <a:ext cx="450000" cy="0"/>
            </a:xfrm>
            <a:prstGeom prst="line">
              <a:avLst/>
            </a:prstGeom>
            <a:ln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그룹 15"/>
          <p:cNvGrpSpPr/>
          <p:nvPr/>
        </p:nvGrpSpPr>
        <p:grpSpPr>
          <a:xfrm>
            <a:off x="1130596" y="1983623"/>
            <a:ext cx="553357" cy="492443"/>
            <a:chOff x="1308396" y="2466302"/>
            <a:chExt cx="553357" cy="492443"/>
          </a:xfrm>
        </p:grpSpPr>
        <p:sp>
          <p:nvSpPr>
            <p:cNvPr id="7" name="직사각형 6"/>
            <p:cNvSpPr/>
            <p:nvPr/>
          </p:nvSpPr>
          <p:spPr>
            <a:xfrm>
              <a:off x="1308396" y="2466302"/>
              <a:ext cx="553357" cy="4924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2600" b="1" dirty="0">
                  <a:ln w="3175">
                    <a:solidFill>
                      <a:prstClr val="white">
                        <a:lumMod val="75000"/>
                        <a:alpha val="25000"/>
                      </a:prstClr>
                    </a:solidFill>
                  </a:ln>
                  <a:solidFill>
                    <a:srgbClr val="45556E"/>
                  </a:solidFill>
                  <a:latin typeface="Century Gothic" panose="020B0502020202020204" pitchFamily="34" charset="0"/>
                  <a:ea typeface="신세계 민부리 Bold(TTF)" panose="02000600000000020003" pitchFamily="2" charset="-127"/>
                  <a:cs typeface="+mj-cs"/>
                </a:rPr>
                <a:t>02</a:t>
              </a:r>
              <a:endParaRPr lang="ko-KR" altLang="en-US" sz="2600" b="1" dirty="0">
                <a:latin typeface="Century Gothic" panose="020B0502020202020204" pitchFamily="34" charset="0"/>
              </a:endParaRPr>
            </a:p>
          </p:txBody>
        </p:sp>
        <p:cxnSp>
          <p:nvCxnSpPr>
            <p:cNvPr id="11" name="직선 연결선 10"/>
            <p:cNvCxnSpPr/>
            <p:nvPr/>
          </p:nvCxnSpPr>
          <p:spPr>
            <a:xfrm>
              <a:off x="1376906" y="2942109"/>
              <a:ext cx="450000" cy="0"/>
            </a:xfrm>
            <a:prstGeom prst="line">
              <a:avLst/>
            </a:prstGeom>
            <a:ln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그룹 16"/>
          <p:cNvGrpSpPr/>
          <p:nvPr/>
        </p:nvGrpSpPr>
        <p:grpSpPr>
          <a:xfrm>
            <a:off x="1128192" y="2567741"/>
            <a:ext cx="553357" cy="492443"/>
            <a:chOff x="1305992" y="2964813"/>
            <a:chExt cx="553357" cy="492443"/>
          </a:xfrm>
        </p:grpSpPr>
        <p:sp>
          <p:nvSpPr>
            <p:cNvPr id="8" name="직사각형 7"/>
            <p:cNvSpPr/>
            <p:nvPr/>
          </p:nvSpPr>
          <p:spPr>
            <a:xfrm>
              <a:off x="1305992" y="2964813"/>
              <a:ext cx="553357" cy="4924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2600" b="1" dirty="0">
                  <a:ln w="3175">
                    <a:solidFill>
                      <a:prstClr val="white">
                        <a:lumMod val="75000"/>
                        <a:alpha val="25000"/>
                      </a:prstClr>
                    </a:solidFill>
                  </a:ln>
                  <a:solidFill>
                    <a:srgbClr val="45556E"/>
                  </a:solidFill>
                  <a:latin typeface="Century Gothic" panose="020B0502020202020204" pitchFamily="34" charset="0"/>
                  <a:ea typeface="신세계 민부리 Bold(TTF)" panose="02000600000000020003" pitchFamily="2" charset="-127"/>
                  <a:cs typeface="+mj-cs"/>
                </a:rPr>
                <a:t>03</a:t>
              </a:r>
              <a:endParaRPr lang="ko-KR" altLang="en-US" sz="2600" b="1" dirty="0">
                <a:latin typeface="Century Gothic" panose="020B0502020202020204" pitchFamily="34" charset="0"/>
              </a:endParaRPr>
            </a:p>
          </p:txBody>
        </p:sp>
        <p:cxnSp>
          <p:nvCxnSpPr>
            <p:cNvPr id="12" name="직선 연결선 11"/>
            <p:cNvCxnSpPr/>
            <p:nvPr/>
          </p:nvCxnSpPr>
          <p:spPr>
            <a:xfrm>
              <a:off x="1376906" y="3446165"/>
              <a:ext cx="450000" cy="0"/>
            </a:xfrm>
            <a:prstGeom prst="line">
              <a:avLst/>
            </a:prstGeom>
            <a:ln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그룹 17"/>
          <p:cNvGrpSpPr/>
          <p:nvPr/>
        </p:nvGrpSpPr>
        <p:grpSpPr>
          <a:xfrm>
            <a:off x="1128192" y="3143469"/>
            <a:ext cx="553357" cy="492443"/>
            <a:chOff x="1305992" y="3463324"/>
            <a:chExt cx="553357" cy="492443"/>
          </a:xfrm>
        </p:grpSpPr>
        <p:sp>
          <p:nvSpPr>
            <p:cNvPr id="9" name="직사각형 8"/>
            <p:cNvSpPr/>
            <p:nvPr/>
          </p:nvSpPr>
          <p:spPr>
            <a:xfrm>
              <a:off x="1305992" y="3463324"/>
              <a:ext cx="553357" cy="4924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2600" b="1" dirty="0">
                  <a:ln w="3175">
                    <a:solidFill>
                      <a:prstClr val="white">
                        <a:lumMod val="75000"/>
                        <a:alpha val="25000"/>
                      </a:prstClr>
                    </a:solidFill>
                  </a:ln>
                  <a:solidFill>
                    <a:srgbClr val="45556E"/>
                  </a:solidFill>
                  <a:latin typeface="Century Gothic" panose="020B0502020202020204" pitchFamily="34" charset="0"/>
                  <a:ea typeface="신세계 민부리 Bold(TTF)" panose="02000600000000020003" pitchFamily="2" charset="-127"/>
                  <a:cs typeface="+mj-cs"/>
                </a:rPr>
                <a:t>04</a:t>
              </a:r>
              <a:endParaRPr lang="ko-KR" altLang="en-US" sz="2600" b="1" dirty="0">
                <a:latin typeface="Century Gothic" panose="020B0502020202020204" pitchFamily="34" charset="0"/>
              </a:endParaRPr>
            </a:p>
          </p:txBody>
        </p:sp>
        <p:cxnSp>
          <p:nvCxnSpPr>
            <p:cNvPr id="13" name="직선 연결선 12"/>
            <p:cNvCxnSpPr/>
            <p:nvPr/>
          </p:nvCxnSpPr>
          <p:spPr>
            <a:xfrm>
              <a:off x="1376906" y="3950221"/>
              <a:ext cx="450000" cy="0"/>
            </a:xfrm>
            <a:prstGeom prst="line">
              <a:avLst/>
            </a:prstGeom>
            <a:ln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9F6B9347-4B27-46E9-85F0-BEEE007BEA22}"/>
              </a:ext>
            </a:extLst>
          </p:cNvPr>
          <p:cNvGrpSpPr/>
          <p:nvPr/>
        </p:nvGrpSpPr>
        <p:grpSpPr>
          <a:xfrm>
            <a:off x="1145825" y="3761427"/>
            <a:ext cx="556563" cy="492443"/>
            <a:chOff x="1323625" y="1967791"/>
            <a:chExt cx="556563" cy="492443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123C2824-E6AA-4C99-85D3-B376080D150C}"/>
                </a:ext>
              </a:extLst>
            </p:cNvPr>
            <p:cNvSpPr/>
            <p:nvPr/>
          </p:nvSpPr>
          <p:spPr>
            <a:xfrm>
              <a:off x="1323625" y="1967791"/>
              <a:ext cx="556563" cy="4924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2600" b="1" dirty="0">
                  <a:ln w="3175">
                    <a:solidFill>
                      <a:prstClr val="white">
                        <a:lumMod val="75000"/>
                        <a:alpha val="25000"/>
                      </a:prstClr>
                    </a:solidFill>
                  </a:ln>
                  <a:solidFill>
                    <a:srgbClr val="45556E"/>
                  </a:solidFill>
                  <a:latin typeface="Century Gothic" panose="020B0502020202020204" pitchFamily="34" charset="0"/>
                  <a:ea typeface="신세계 민부리 Bold(TTF)" panose="02000600000000020003" pitchFamily="2" charset="-127"/>
                  <a:cs typeface="+mj-cs"/>
                </a:rPr>
                <a:t>05</a:t>
              </a:r>
              <a:endParaRPr lang="ko-KR" altLang="en-US" sz="2600" b="1" dirty="0">
                <a:latin typeface="Century Gothic" panose="020B0502020202020204" pitchFamily="34" charset="0"/>
              </a:endParaRPr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218FC269-88CD-46FF-B66A-E44E8D052757}"/>
                </a:ext>
              </a:extLst>
            </p:cNvPr>
            <p:cNvCxnSpPr/>
            <p:nvPr/>
          </p:nvCxnSpPr>
          <p:spPr>
            <a:xfrm>
              <a:off x="1376906" y="2446294"/>
              <a:ext cx="450000" cy="0"/>
            </a:xfrm>
            <a:prstGeom prst="line">
              <a:avLst/>
            </a:prstGeom>
            <a:ln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6998C4A0-80D1-4EB3-9C5D-7BE68743CDDF}"/>
              </a:ext>
            </a:extLst>
          </p:cNvPr>
          <p:cNvGrpSpPr/>
          <p:nvPr/>
        </p:nvGrpSpPr>
        <p:grpSpPr>
          <a:xfrm>
            <a:off x="1130596" y="4399652"/>
            <a:ext cx="556563" cy="492443"/>
            <a:chOff x="1308396" y="2466302"/>
            <a:chExt cx="556563" cy="492443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9B3103E2-122E-4368-93CE-2F5C01E6D502}"/>
                </a:ext>
              </a:extLst>
            </p:cNvPr>
            <p:cNvSpPr/>
            <p:nvPr/>
          </p:nvSpPr>
          <p:spPr>
            <a:xfrm>
              <a:off x="1308396" y="2466302"/>
              <a:ext cx="556563" cy="4924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2600" b="1" dirty="0">
                  <a:ln w="3175">
                    <a:solidFill>
                      <a:prstClr val="white">
                        <a:lumMod val="75000"/>
                        <a:alpha val="25000"/>
                      </a:prstClr>
                    </a:solidFill>
                  </a:ln>
                  <a:solidFill>
                    <a:srgbClr val="45556E"/>
                  </a:solidFill>
                  <a:latin typeface="Century Gothic" panose="020B0502020202020204" pitchFamily="34" charset="0"/>
                  <a:ea typeface="신세계 민부리 Bold(TTF)" panose="02000600000000020003" pitchFamily="2" charset="-127"/>
                  <a:cs typeface="+mj-cs"/>
                </a:rPr>
                <a:t>06</a:t>
              </a:r>
              <a:endParaRPr lang="ko-KR" altLang="en-US" sz="2600" b="1" dirty="0">
                <a:latin typeface="Century Gothic" panose="020B0502020202020204" pitchFamily="34" charset="0"/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8085003D-4073-453C-894A-C5F7CBA059E0}"/>
                </a:ext>
              </a:extLst>
            </p:cNvPr>
            <p:cNvCxnSpPr/>
            <p:nvPr/>
          </p:nvCxnSpPr>
          <p:spPr>
            <a:xfrm>
              <a:off x="1376906" y="2942109"/>
              <a:ext cx="450000" cy="0"/>
            </a:xfrm>
            <a:prstGeom prst="line">
              <a:avLst/>
            </a:prstGeom>
            <a:ln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4E92775A-B499-497B-9B1F-427170158E97}"/>
              </a:ext>
            </a:extLst>
          </p:cNvPr>
          <p:cNvGrpSpPr/>
          <p:nvPr/>
        </p:nvGrpSpPr>
        <p:grpSpPr>
          <a:xfrm>
            <a:off x="1128192" y="4983770"/>
            <a:ext cx="556563" cy="492443"/>
            <a:chOff x="1305992" y="2964813"/>
            <a:chExt cx="556563" cy="492443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86DE0960-6F52-4815-967C-F6E036A7D465}"/>
                </a:ext>
              </a:extLst>
            </p:cNvPr>
            <p:cNvSpPr/>
            <p:nvPr/>
          </p:nvSpPr>
          <p:spPr>
            <a:xfrm>
              <a:off x="1305992" y="2964813"/>
              <a:ext cx="556563" cy="4924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2600" b="1" dirty="0">
                  <a:ln w="3175">
                    <a:solidFill>
                      <a:prstClr val="white">
                        <a:lumMod val="75000"/>
                        <a:alpha val="25000"/>
                      </a:prstClr>
                    </a:solidFill>
                  </a:ln>
                  <a:solidFill>
                    <a:srgbClr val="45556E"/>
                  </a:solidFill>
                  <a:latin typeface="Century Gothic" panose="020B0502020202020204" pitchFamily="34" charset="0"/>
                  <a:ea typeface="신세계 민부리 Bold(TTF)" panose="02000600000000020003" pitchFamily="2" charset="-127"/>
                  <a:cs typeface="+mj-cs"/>
                </a:rPr>
                <a:t>07</a:t>
              </a:r>
              <a:endParaRPr lang="ko-KR" altLang="en-US" sz="2600" b="1" dirty="0">
                <a:latin typeface="Century Gothic" panose="020B0502020202020204" pitchFamily="34" charset="0"/>
              </a:endParaRPr>
            </a:p>
          </p:txBody>
        </p: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92F633FC-6544-4F1C-B55C-6D2F672A9B2C}"/>
                </a:ext>
              </a:extLst>
            </p:cNvPr>
            <p:cNvCxnSpPr/>
            <p:nvPr/>
          </p:nvCxnSpPr>
          <p:spPr>
            <a:xfrm>
              <a:off x="1376906" y="3446165"/>
              <a:ext cx="450000" cy="0"/>
            </a:xfrm>
            <a:prstGeom prst="line">
              <a:avLst/>
            </a:prstGeom>
            <a:ln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239917D8-04D4-413A-BA6C-30F50431E21E}"/>
              </a:ext>
            </a:extLst>
          </p:cNvPr>
          <p:cNvGrpSpPr/>
          <p:nvPr/>
        </p:nvGrpSpPr>
        <p:grpSpPr>
          <a:xfrm>
            <a:off x="1128192" y="5559498"/>
            <a:ext cx="556563" cy="492443"/>
            <a:chOff x="1305992" y="3463324"/>
            <a:chExt cx="556563" cy="492443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9823933E-6569-464A-9352-FC401C0CE3B7}"/>
                </a:ext>
              </a:extLst>
            </p:cNvPr>
            <p:cNvSpPr/>
            <p:nvPr/>
          </p:nvSpPr>
          <p:spPr>
            <a:xfrm>
              <a:off x="1305992" y="3463324"/>
              <a:ext cx="556563" cy="4924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2600" b="1" dirty="0">
                  <a:ln w="3175">
                    <a:solidFill>
                      <a:prstClr val="white">
                        <a:lumMod val="75000"/>
                        <a:alpha val="25000"/>
                      </a:prstClr>
                    </a:solidFill>
                  </a:ln>
                  <a:solidFill>
                    <a:srgbClr val="45556E"/>
                  </a:solidFill>
                  <a:latin typeface="Century Gothic" panose="020B0502020202020204" pitchFamily="34" charset="0"/>
                  <a:ea typeface="신세계 민부리 Bold(TTF)" panose="02000600000000020003" pitchFamily="2" charset="-127"/>
                  <a:cs typeface="+mj-cs"/>
                </a:rPr>
                <a:t>08</a:t>
              </a:r>
              <a:endParaRPr lang="ko-KR" altLang="en-US" sz="2600" b="1" dirty="0">
                <a:latin typeface="Century Gothic" panose="020B0502020202020204" pitchFamily="34" charset="0"/>
              </a:endParaRPr>
            </a:p>
          </p:txBody>
        </p: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3F00D585-937C-4141-BDE7-A102ECAA3003}"/>
                </a:ext>
              </a:extLst>
            </p:cNvPr>
            <p:cNvCxnSpPr/>
            <p:nvPr/>
          </p:nvCxnSpPr>
          <p:spPr>
            <a:xfrm>
              <a:off x="1376906" y="3950221"/>
              <a:ext cx="450000" cy="0"/>
            </a:xfrm>
            <a:prstGeom prst="line">
              <a:avLst/>
            </a:prstGeom>
            <a:ln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47451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pc="-70" dirty="0"/>
              <a:t>01. </a:t>
            </a:r>
            <a:r>
              <a:rPr lang="ko-KR" altLang="en-US" spc="-70" dirty="0"/>
              <a:t>주제선정</a:t>
            </a:r>
            <a:endParaRPr lang="ko-KR" altLang="en-US" spc="-70" dirty="0">
              <a:solidFill>
                <a:srgbClr val="1F4E79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36F61-85A5-423E-AA20-902C4E984E9A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969147" y="1578857"/>
            <a:ext cx="8314553" cy="1850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1F4E79"/>
                </a:solidFill>
              </a:rPr>
              <a:t>“</a:t>
            </a:r>
            <a:r>
              <a:rPr lang="ko-KR" altLang="en-US" sz="2000" b="1" dirty="0">
                <a:solidFill>
                  <a:srgbClr val="1F4E79"/>
                </a:solidFill>
              </a:rPr>
              <a:t>대웅제약</a:t>
            </a:r>
            <a:r>
              <a:rPr lang="en-US" altLang="ko-KR" sz="2000" b="1" dirty="0">
                <a:solidFill>
                  <a:srgbClr val="1F4E79"/>
                </a:solidFill>
              </a:rPr>
              <a:t>”</a:t>
            </a:r>
          </a:p>
          <a:p>
            <a:pPr>
              <a:lnSpc>
                <a:spcPct val="200000"/>
              </a:lnSpc>
            </a:pP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그 동안 해보지 못했던 새로운 분야의 홈페이지를 만들고자 대웅제약을 선택하였습니다</a:t>
            </a: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  <a:endParaRPr lang="ko-KR" alt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9493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pc="-70" dirty="0"/>
              <a:t>02. </a:t>
            </a:r>
            <a:r>
              <a:rPr lang="ko-KR" altLang="en-US" spc="-70" dirty="0"/>
              <a:t>사이트 기획의도</a:t>
            </a:r>
            <a:endParaRPr lang="ko-KR" altLang="en-US" spc="-70" dirty="0">
              <a:solidFill>
                <a:srgbClr val="1F4E79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36F61-85A5-423E-AA20-902C4E984E9A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969147" y="1578857"/>
            <a:ext cx="8314553" cy="1850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대웅제약 메인 페이지를 새로운 콘텐츠로 구성하고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</a:t>
            </a:r>
          </a:p>
          <a:p>
            <a:pPr>
              <a:lnSpc>
                <a:spcPct val="200000"/>
              </a:lnSpc>
            </a:pP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적응형 홈페이지를 반응형 홈페이지로 만들고자 이 프로젝트를 기획하였습니다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2598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pc="-70" dirty="0"/>
              <a:t>03. </a:t>
            </a:r>
            <a:r>
              <a:rPr lang="ko-KR" altLang="en-US" spc="-70" dirty="0"/>
              <a:t>타겟</a:t>
            </a:r>
            <a:endParaRPr lang="ko-KR" altLang="en-US" spc="-70" dirty="0">
              <a:solidFill>
                <a:srgbClr val="1F4E79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36F61-85A5-423E-AA20-902C4E984E9A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9CC3BD-530C-467A-AD24-3B85089E2167}"/>
              </a:ext>
            </a:extLst>
          </p:cNvPr>
          <p:cNvSpPr txBox="1"/>
          <p:nvPr/>
        </p:nvSpPr>
        <p:spPr>
          <a:xfrm>
            <a:off x="723550" y="1280443"/>
            <a:ext cx="8605007" cy="566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“ </a:t>
            </a:r>
            <a:r>
              <a:rPr lang="ko-KR" altLang="en-US" sz="1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전 연령층을 타겟으로</a:t>
            </a:r>
            <a:r>
              <a:rPr lang="en-US" altLang="ko-KR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</a:t>
            </a:r>
            <a:r>
              <a:rPr lang="en-US" altLang="ko-KR" sz="1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ko-KR" altLang="en-US" sz="1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상황에 맞는 약을 복용을 할 수 </a:t>
            </a:r>
            <a:r>
              <a:rPr lang="ko-KR" altLang="en-US" sz="18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있게함</a:t>
            </a:r>
            <a:r>
              <a:rPr lang="en-US" altLang="ko-KR" sz="1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E8C1D7-5544-48C8-BE0F-B8A9455D04FF}"/>
              </a:ext>
            </a:extLst>
          </p:cNvPr>
          <p:cNvSpPr txBox="1"/>
          <p:nvPr/>
        </p:nvSpPr>
        <p:spPr>
          <a:xfrm>
            <a:off x="938951" y="3438702"/>
            <a:ext cx="930063" cy="3693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/>
              <a:t>타겟 </a:t>
            </a:r>
            <a:r>
              <a:rPr lang="en-US" altLang="ko-KR" b="1" dirty="0"/>
              <a:t>1. </a:t>
            </a:r>
            <a:endParaRPr lang="ko-KR" altLang="en-US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8F8AF1-28B4-4615-AFEE-817242591805}"/>
              </a:ext>
            </a:extLst>
          </p:cNvPr>
          <p:cNvSpPr txBox="1"/>
          <p:nvPr/>
        </p:nvSpPr>
        <p:spPr>
          <a:xfrm>
            <a:off x="2767751" y="2515913"/>
            <a:ext cx="6560806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b="1" dirty="0"/>
              <a:t>   이름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A3F1CE-4566-4492-8221-A8923FA4B9DD}"/>
              </a:ext>
            </a:extLst>
          </p:cNvPr>
          <p:cNvSpPr txBox="1"/>
          <p:nvPr/>
        </p:nvSpPr>
        <p:spPr>
          <a:xfrm>
            <a:off x="4184742" y="2515913"/>
            <a:ext cx="646332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/>
              <a:t>나이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D12BA9-B8AF-482F-90E1-1A7898AD2986}"/>
              </a:ext>
            </a:extLst>
          </p:cNvPr>
          <p:cNvSpPr txBox="1"/>
          <p:nvPr/>
        </p:nvSpPr>
        <p:spPr>
          <a:xfrm>
            <a:off x="5485036" y="2515913"/>
            <a:ext cx="646332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/>
              <a:t>직업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54B26D-2C28-4710-90C4-F8FB007AFD32}"/>
              </a:ext>
            </a:extLst>
          </p:cNvPr>
          <p:cNvSpPr txBox="1"/>
          <p:nvPr/>
        </p:nvSpPr>
        <p:spPr>
          <a:xfrm>
            <a:off x="6785331" y="2515913"/>
            <a:ext cx="646331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/>
              <a:t>성향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A7595F-2535-4262-917A-DA04E384E7B4}"/>
              </a:ext>
            </a:extLst>
          </p:cNvPr>
          <p:cNvSpPr txBox="1"/>
          <p:nvPr/>
        </p:nvSpPr>
        <p:spPr>
          <a:xfrm>
            <a:off x="2767751" y="3438702"/>
            <a:ext cx="930063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/>
              <a:t>김지은</a:t>
            </a:r>
            <a:r>
              <a:rPr lang="en-US" altLang="ko-KR" b="1" dirty="0"/>
              <a:t> </a:t>
            </a:r>
            <a:endParaRPr lang="ko-KR" altLang="en-US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32FC0D-5B9D-44E3-B0E2-F27684378DD4}"/>
              </a:ext>
            </a:extLst>
          </p:cNvPr>
          <p:cNvSpPr txBox="1"/>
          <p:nvPr/>
        </p:nvSpPr>
        <p:spPr>
          <a:xfrm>
            <a:off x="4297274" y="3438702"/>
            <a:ext cx="47160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/>
              <a:t>23 </a:t>
            </a:r>
            <a:endParaRPr lang="ko-KR" altLang="en-US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D73DB74-F11E-45E5-9291-883B0D1372E6}"/>
              </a:ext>
            </a:extLst>
          </p:cNvPr>
          <p:cNvSpPr txBox="1"/>
          <p:nvPr/>
        </p:nvSpPr>
        <p:spPr>
          <a:xfrm>
            <a:off x="5368338" y="3438702"/>
            <a:ext cx="930063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/>
              <a:t>대학생</a:t>
            </a:r>
            <a:r>
              <a:rPr lang="en-US" altLang="ko-KR" b="1" dirty="0"/>
              <a:t> </a:t>
            </a:r>
            <a:endParaRPr lang="ko-KR" altLang="en-US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8AAF322-B012-4E5C-84F4-D4E8BEC9E7B1}"/>
              </a:ext>
            </a:extLst>
          </p:cNvPr>
          <p:cNvSpPr txBox="1"/>
          <p:nvPr/>
        </p:nvSpPr>
        <p:spPr>
          <a:xfrm>
            <a:off x="6668631" y="3438702"/>
            <a:ext cx="930063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/>
              <a:t>내향적</a:t>
            </a:r>
            <a:r>
              <a:rPr lang="en-US" altLang="ko-KR" b="1" dirty="0"/>
              <a:t> </a:t>
            </a:r>
            <a:endParaRPr lang="ko-KR" altLang="en-US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214C446-62BC-4604-BB1D-836664D82504}"/>
              </a:ext>
            </a:extLst>
          </p:cNvPr>
          <p:cNvSpPr txBox="1"/>
          <p:nvPr/>
        </p:nvSpPr>
        <p:spPr>
          <a:xfrm>
            <a:off x="8211459" y="2515913"/>
            <a:ext cx="646332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/>
              <a:t>상황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A0FBDB5-AEE1-45E1-96A4-C576289F5F7D}"/>
              </a:ext>
            </a:extLst>
          </p:cNvPr>
          <p:cNvSpPr txBox="1"/>
          <p:nvPr/>
        </p:nvSpPr>
        <p:spPr>
          <a:xfrm>
            <a:off x="7883931" y="3438702"/>
            <a:ext cx="1444626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/>
              <a:t>두통이 심함</a:t>
            </a:r>
            <a:r>
              <a:rPr lang="en-US" altLang="ko-KR" b="1" dirty="0"/>
              <a:t> </a:t>
            </a:r>
            <a:endParaRPr lang="ko-KR" altLang="en-US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46FDC7-57D4-4DA7-AB91-A3BD545D9A19}"/>
              </a:ext>
            </a:extLst>
          </p:cNvPr>
          <p:cNvSpPr txBox="1"/>
          <p:nvPr/>
        </p:nvSpPr>
        <p:spPr>
          <a:xfrm>
            <a:off x="2767751" y="4151766"/>
            <a:ext cx="930063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/>
              <a:t>박병수</a:t>
            </a:r>
            <a:r>
              <a:rPr lang="en-US" altLang="ko-KR" b="1" dirty="0"/>
              <a:t> </a:t>
            </a:r>
            <a:endParaRPr lang="ko-KR" altLang="en-US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FB5508-013D-44A7-A730-91662D797E0D}"/>
              </a:ext>
            </a:extLst>
          </p:cNvPr>
          <p:cNvSpPr txBox="1"/>
          <p:nvPr/>
        </p:nvSpPr>
        <p:spPr>
          <a:xfrm>
            <a:off x="4297274" y="4151766"/>
            <a:ext cx="471604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/>
              <a:t>55 </a:t>
            </a:r>
            <a:endParaRPr lang="ko-KR" altLang="en-US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9FE0B15-67F4-4A19-94CC-19F82DA105ED}"/>
              </a:ext>
            </a:extLst>
          </p:cNvPr>
          <p:cNvSpPr txBox="1"/>
          <p:nvPr/>
        </p:nvSpPr>
        <p:spPr>
          <a:xfrm>
            <a:off x="5368338" y="4151766"/>
            <a:ext cx="930063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/>
              <a:t>회사원</a:t>
            </a:r>
            <a:r>
              <a:rPr lang="en-US" altLang="ko-KR" b="1" dirty="0"/>
              <a:t> </a:t>
            </a:r>
            <a:endParaRPr lang="ko-KR" altLang="en-US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9A7E7DA-AFF3-4F4B-B852-678B12DD1353}"/>
              </a:ext>
            </a:extLst>
          </p:cNvPr>
          <p:cNvSpPr txBox="1"/>
          <p:nvPr/>
        </p:nvSpPr>
        <p:spPr>
          <a:xfrm>
            <a:off x="6668631" y="4151766"/>
            <a:ext cx="930063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/>
              <a:t>외향적</a:t>
            </a:r>
            <a:r>
              <a:rPr lang="en-US" altLang="ko-KR" b="1" dirty="0"/>
              <a:t> </a:t>
            </a:r>
            <a:endParaRPr lang="ko-KR" altLang="en-US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44159D-03AC-43AE-B7BE-A5787F6E4843}"/>
              </a:ext>
            </a:extLst>
          </p:cNvPr>
          <p:cNvSpPr txBox="1"/>
          <p:nvPr/>
        </p:nvSpPr>
        <p:spPr>
          <a:xfrm>
            <a:off x="7883931" y="4151766"/>
            <a:ext cx="144462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/>
              <a:t>잦은 근육통</a:t>
            </a:r>
            <a:r>
              <a:rPr lang="en-US" altLang="ko-KR" b="1" dirty="0"/>
              <a:t> </a:t>
            </a:r>
            <a:endParaRPr lang="ko-KR" altLang="en-US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3D2CEEA-D46C-44D0-833D-0067B8ADE719}"/>
              </a:ext>
            </a:extLst>
          </p:cNvPr>
          <p:cNvSpPr txBox="1"/>
          <p:nvPr/>
        </p:nvSpPr>
        <p:spPr>
          <a:xfrm>
            <a:off x="938951" y="4168544"/>
            <a:ext cx="930063" cy="3693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/>
              <a:t>타겟 </a:t>
            </a:r>
            <a:r>
              <a:rPr lang="en-US" altLang="ko-KR" b="1" dirty="0"/>
              <a:t>2. </a:t>
            </a:r>
            <a:endParaRPr lang="ko-KR" altLang="en-US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73D3B2-498F-443F-95F5-5BAED048FF62}"/>
              </a:ext>
            </a:extLst>
          </p:cNvPr>
          <p:cNvSpPr txBox="1"/>
          <p:nvPr/>
        </p:nvSpPr>
        <p:spPr>
          <a:xfrm>
            <a:off x="938951" y="4948720"/>
            <a:ext cx="930063" cy="3693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/>
              <a:t>타겟 </a:t>
            </a:r>
            <a:r>
              <a:rPr lang="en-US" altLang="ko-KR" b="1" dirty="0"/>
              <a:t>3. </a:t>
            </a:r>
            <a:endParaRPr lang="ko-KR" altLang="en-US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284CDD0-E166-4C1D-B62C-D40B0A6DBCE0}"/>
              </a:ext>
            </a:extLst>
          </p:cNvPr>
          <p:cNvSpPr txBox="1"/>
          <p:nvPr/>
        </p:nvSpPr>
        <p:spPr>
          <a:xfrm>
            <a:off x="2767751" y="4931942"/>
            <a:ext cx="93006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 err="1"/>
              <a:t>오남례</a:t>
            </a:r>
            <a:r>
              <a:rPr lang="en-US" altLang="ko-KR" b="1" dirty="0"/>
              <a:t> </a:t>
            </a:r>
            <a:endParaRPr lang="ko-KR" altLang="en-US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6EBB4D4-668B-4F3E-8AA3-003A30C525DF}"/>
              </a:ext>
            </a:extLst>
          </p:cNvPr>
          <p:cNvSpPr txBox="1"/>
          <p:nvPr/>
        </p:nvSpPr>
        <p:spPr>
          <a:xfrm>
            <a:off x="4297274" y="4931942"/>
            <a:ext cx="47160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/>
              <a:t>70 </a:t>
            </a:r>
            <a:endParaRPr lang="ko-KR" altLang="en-US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55B670C-B029-4141-A8C6-F7EC0AE60200}"/>
              </a:ext>
            </a:extLst>
          </p:cNvPr>
          <p:cNvSpPr txBox="1"/>
          <p:nvPr/>
        </p:nvSpPr>
        <p:spPr>
          <a:xfrm>
            <a:off x="5483754" y="4931942"/>
            <a:ext cx="69923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/>
              <a:t>주부</a:t>
            </a:r>
            <a:r>
              <a:rPr lang="en-US" altLang="ko-KR" b="1" dirty="0"/>
              <a:t> </a:t>
            </a:r>
            <a:endParaRPr lang="ko-KR" altLang="en-US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1DD5512-514E-4143-BB97-0C0BEE7ABAA3}"/>
              </a:ext>
            </a:extLst>
          </p:cNvPr>
          <p:cNvSpPr txBox="1"/>
          <p:nvPr/>
        </p:nvSpPr>
        <p:spPr>
          <a:xfrm>
            <a:off x="6668631" y="4931942"/>
            <a:ext cx="93006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/>
              <a:t>내향적</a:t>
            </a:r>
            <a:r>
              <a:rPr lang="en-US" altLang="ko-KR" b="1" dirty="0"/>
              <a:t> </a:t>
            </a:r>
            <a:endParaRPr lang="ko-KR" altLang="en-US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6D55DD4-6839-4577-B7DB-A259AB475157}"/>
              </a:ext>
            </a:extLst>
          </p:cNvPr>
          <p:cNvSpPr txBox="1"/>
          <p:nvPr/>
        </p:nvSpPr>
        <p:spPr>
          <a:xfrm>
            <a:off x="8167663" y="4931942"/>
            <a:ext cx="87716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/>
              <a:t>고혈압</a:t>
            </a:r>
          </a:p>
        </p:txBody>
      </p:sp>
    </p:spTree>
    <p:extLst>
      <p:ext uri="{BB962C8B-B14F-4D97-AF65-F5344CB8AC3E}">
        <p14:creationId xmlns:p14="http://schemas.microsoft.com/office/powerpoint/2010/main" val="4130010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pc="-70" dirty="0"/>
              <a:t>04. </a:t>
            </a:r>
            <a:r>
              <a:rPr lang="ko-KR" altLang="en-US" spc="-70" dirty="0"/>
              <a:t>정보구조설계</a:t>
            </a:r>
            <a:endParaRPr lang="ko-KR" altLang="en-US" spc="-70" dirty="0">
              <a:solidFill>
                <a:srgbClr val="1F4E79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36F61-85A5-423E-AA20-902C4E984E9A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7382192-1559-4D6B-9BD1-FA5B5D20C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58" y="1342206"/>
            <a:ext cx="8917497" cy="3862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399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pc="-70" dirty="0"/>
              <a:t>05. </a:t>
            </a:r>
            <a:r>
              <a:rPr lang="ko-KR" altLang="en-US" spc="-70" dirty="0"/>
              <a:t>와이어프레임</a:t>
            </a:r>
            <a:endParaRPr lang="ko-KR" altLang="en-US" spc="-70" dirty="0">
              <a:solidFill>
                <a:srgbClr val="1F4E79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36F61-85A5-423E-AA20-902C4E984E9A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A7E4533-6546-4A37-ABAE-4A46274B4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1997"/>
            <a:ext cx="2368810" cy="5194998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3D1F9063-8594-44AF-87A7-FB99334DE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3426" y="761997"/>
            <a:ext cx="1487994" cy="5194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320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pc="-70" dirty="0"/>
              <a:t>06. UI </a:t>
            </a:r>
            <a:r>
              <a:rPr lang="ko-KR" altLang="en-US" spc="-70" dirty="0"/>
              <a:t>디자인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36F61-85A5-423E-AA20-902C4E984E9A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5F38A57-1F90-424D-9B4C-BB0D7340EC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5082" y="761996"/>
            <a:ext cx="2944837" cy="540391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91B9353-EA41-4A9E-BD04-74C4BA17F5F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131" b="55320"/>
          <a:stretch/>
        </p:blipFill>
        <p:spPr>
          <a:xfrm>
            <a:off x="5846947" y="784368"/>
            <a:ext cx="763675" cy="527466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D7CC207-FF25-4672-928B-65E201F04CF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036" r="57634"/>
          <a:stretch/>
        </p:blipFill>
        <p:spPr>
          <a:xfrm>
            <a:off x="6833666" y="784369"/>
            <a:ext cx="625933" cy="5381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031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세로 제목 3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>
            <a:r>
              <a:rPr lang="ko-KR" altLang="en-US" dirty="0"/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604436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1053</TotalTime>
  <Words>160</Words>
  <Application>Microsoft Office PowerPoint</Application>
  <PresentationFormat>A4 용지(210x297mm)</PresentationFormat>
  <Paragraphs>65</Paragraphs>
  <Slides>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7" baseType="lpstr">
      <vt:lpstr>맑은 고딕</vt:lpstr>
      <vt:lpstr>신세계 반부리 Medium(TTF)</vt:lpstr>
      <vt:lpstr>Arial</vt:lpstr>
      <vt:lpstr>Calibri</vt:lpstr>
      <vt:lpstr>Calibri Light</vt:lpstr>
      <vt:lpstr>Century Gothic</vt:lpstr>
      <vt:lpstr>Helvetica</vt:lpstr>
      <vt:lpstr>Office 테마</vt:lpstr>
      <vt:lpstr>프로그래밍 언어 응용 - 능력단위명 : 프로그래밍 언어 응용(2001020230_19v4)</vt:lpstr>
      <vt:lpstr>Contents</vt:lpstr>
      <vt:lpstr>01. 주제선정</vt:lpstr>
      <vt:lpstr>02. 사이트 기획의도</vt:lpstr>
      <vt:lpstr>03. 타겟</vt:lpstr>
      <vt:lpstr>04. 정보구조설계</vt:lpstr>
      <vt:lpstr>05. 와이어프레임</vt:lpstr>
      <vt:lpstr>06. UI 디자인</vt:lpstr>
      <vt:lpstr>감사합니다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Wonseok YOO</dc:creator>
  <cp:lastModifiedBy>Administrator</cp:lastModifiedBy>
  <cp:revision>127</cp:revision>
  <dcterms:created xsi:type="dcterms:W3CDTF">2020-11-30T12:48:58Z</dcterms:created>
  <dcterms:modified xsi:type="dcterms:W3CDTF">2024-01-25T11:28:56Z</dcterms:modified>
</cp:coreProperties>
</file>